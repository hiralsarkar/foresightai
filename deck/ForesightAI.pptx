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ln w="9525" cap="flat">
                <a:solidFill>
                  <a:srgbClr val="0A1628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E3350"/>
              </a:solidFill>
              <a:ln w="9525" cap="flat">
                <a:solidFill>
                  <a:srgbClr val="0A1628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58</c:v>
                </c:pt>
                <c:pt idx="1">
                  <c:v>42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ln w="9525" cap="flat">
                <a:solidFill>
                  <a:srgbClr val="0A1628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E3350"/>
              </a:solidFill>
              <a:ln w="9525" cap="flat">
                <a:solidFill>
                  <a:srgbClr val="0A1628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58</c:v>
                </c:pt>
                <c:pt idx="1">
                  <c:v>42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CORPORATE RISK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</a:t>
            </a:r>
            <a:pPr indent="0" marL="0">
              <a:buNone/>
            </a:pPr>
            <a:r>
              <a:rPr lang="en-US" sz="6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any listed Indian company. Get one explainable 0-100 score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fuses the Altman Z-Score with the market signals others read separately: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ratings, leadership, news, hiring and employee sentiment.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4160520" cy="566928"/>
          </a:xfrm>
          <a:prstGeom prst="roundRect">
            <a:avLst>
              <a:gd name="adj" fmla="val 50000"/>
            </a:avLst>
          </a:prstGeom>
          <a:solidFill>
            <a:srgbClr val="15274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77640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</a:t>
            </a:r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foresightai.streamlit.app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Z  +  credit ratings  +  leadership  +  news   .   NSE-listed   .   validated on 5 real collapses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0" y="1508760"/>
            <a:ext cx="3291840" cy="3291840"/>
          </a:xfrm>
          <a:prstGeom prst="ellipse">
            <a:avLst/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9006840" y="182880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9006840" y="248716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9006840" y="33101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100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06840" y="1810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0" y="4892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explainable, on demand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warning signs are </a:t>
            </a:r>
            <a:pPr indent="0" marL="0">
              <a:buNone/>
            </a:pPr>
            <a:r>
              <a:rPr lang="en-US" sz="3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Nobody reads them in time.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5528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builds for years in the filings and the headlines - but the read is slow, manual and scattered.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989320" cy="1170432"/>
          </a:xfrm>
          <a:prstGeom prst="roundRect">
            <a:avLst>
              <a:gd name="adj" fmla="val 7031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258568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580" y="2399020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305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468880"/>
            <a:ext cx="4800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 lag reality by quarters. By the time the ratios turn, the market already knows.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3319272"/>
            <a:ext cx="5989320" cy="1170432"/>
          </a:xfrm>
          <a:prstGeom prst="roundRect">
            <a:avLst>
              <a:gd name="adj" fmla="val 7031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24128" y="3611880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580" y="3752332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4838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one by one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822192"/>
            <a:ext cx="4800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read filings company by company. Coverage is thin and the slowest names get watched last.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4672584"/>
            <a:ext cx="5989320" cy="1170432"/>
          </a:xfrm>
          <a:prstGeom prst="roundRect">
            <a:avLst>
              <a:gd name="adj" fmla="val 7031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24128" y="4965192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80" y="5105644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8371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sit apart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175504"/>
            <a:ext cx="4800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moves before the accounts do - but the numbers and the narrative live in different places.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086600" y="1965960"/>
            <a:ext cx="4343400" cy="3913632"/>
          </a:xfrm>
          <a:prstGeom prst="roundRect">
            <a:avLst>
              <a:gd name="adj" fmla="val 2103"/>
            </a:avLst>
          </a:prstGeom>
          <a:solidFill>
            <a:srgbClr val="15274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406640" y="221284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FORESIGHT FIX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406640" y="254203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public, in one score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7360920" y="3035808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400" dirty="0"/>
          </a:p>
        </p:txBody>
      </p:sp>
      <p:sp>
        <p:nvSpPr>
          <p:cNvPr id="23" name="Text 18"/>
          <p:cNvSpPr/>
          <p:nvPr/>
        </p:nvSpPr>
        <p:spPr>
          <a:xfrm>
            <a:off x="864108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pPr indent="0" marL="0">
              <a:lnSpc>
                <a:spcPct val="102000"/>
              </a:lnSpc>
              <a:buNone/>
            </a:pPr>
            <a:endParaRPr lang="en-US" sz="2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into one</a:t>
            </a:r>
            <a:endParaRPr lang="en-US" sz="2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read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7406640" y="452628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 .  credit ratings  .  leadership  .  news  .  hiring  .  employee sentiment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406640" y="54406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 and explained - not scattered across ten browser tabs.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pipeline, </a:t>
            </a:r>
            <a:pPr indent="0" marL="0">
              <a:buNone/>
            </a:pPr>
            <a:r>
              <a:rPr lang="en-US" sz="3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explainable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5528" y="122529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hard-coded. Pick a name and every step runs on the spot.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6172" y="2258568"/>
            <a:ext cx="768096" cy="76809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515" y="2442911"/>
            <a:ext cx="399410" cy="399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11226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1729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company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95528" y="3557016"/>
            <a:ext cx="1929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NSE-listed name, chosen on demand.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2930652"/>
            <a:ext cx="402336" cy="4023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84448" y="196596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66260" y="2258568"/>
            <a:ext cx="768096" cy="76809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603" y="2442911"/>
            <a:ext cx="399410" cy="3994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211226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721608" y="31729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live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3785616" y="3557016"/>
            <a:ext cx="1929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from Screener + latest news from Google News.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930652"/>
            <a:ext cx="402336" cy="40233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74536" y="196596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356348" y="2258568"/>
            <a:ext cx="768096" cy="76809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691" y="2442911"/>
            <a:ext cx="399410" cy="3994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39128" y="211226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711696" y="31729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signals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6775704" y="3557016"/>
            <a:ext cx="1929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Z financials + a five-signal market pulse.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272" y="2930652"/>
            <a:ext cx="402336" cy="40233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564624" y="196596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1527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10346436" y="2258568"/>
            <a:ext cx="768096" cy="76809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779" y="2442911"/>
            <a:ext cx="399410" cy="39941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729216" y="211226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9701784" y="31729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+ explain</a:t>
            </a:r>
            <a:endParaRPr lang="en-US" sz="1650" dirty="0"/>
          </a:p>
        </p:txBody>
      </p:sp>
      <p:sp>
        <p:nvSpPr>
          <p:cNvPr id="30" name="Text 21"/>
          <p:cNvSpPr/>
          <p:nvPr/>
        </p:nvSpPr>
        <p:spPr>
          <a:xfrm>
            <a:off x="9765792" y="3557016"/>
            <a:ext cx="1929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0-100 risk read, every point traced to a real ratio, rating or headline.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594360" y="4709160"/>
            <a:ext cx="11002975" cy="1417320"/>
          </a:xfrm>
          <a:prstGeom prst="roundRect">
            <a:avLst>
              <a:gd name="adj" fmla="val 5806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868680" y="4910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SCORE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868680" y="527608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354" y="5407762"/>
            <a:ext cx="285293" cy="28529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554480" y="5257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leg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Original 1968 Altman Z - working capital, retained earnings, EBIT, market equity, sales. A trusted distress formula, computed live and decomposed term by term.</a:t>
            </a:r>
            <a:endParaRPr lang="en-US" sz="1450" dirty="0"/>
          </a:p>
        </p:txBody>
      </p:sp>
      <p:sp>
        <p:nvSpPr>
          <p:cNvPr id="36" name="Shape 26"/>
          <p:cNvSpPr/>
          <p:nvPr/>
        </p:nvSpPr>
        <p:spPr>
          <a:xfrm>
            <a:off x="6446520" y="5166360"/>
            <a:ext cx="914" cy="68580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720840" y="527608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2514" y="5407762"/>
            <a:ext cx="285293" cy="28529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406640" y="5239512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leg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Five signals that move before the accounts do: credit rating (0.30), leadership changes (0.25), news sentiment (0.25), hiring (0.10), employee confidence (0.10). A rating cut to 'D' or an auditor exit floors the score - facts, not moods.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pPr indent="0" marL="0">
              <a:buNone/>
            </a:pPr>
            <a:r>
              <a:rPr lang="en-US" sz="3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score, on real history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5528" y="122529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reads the annual filings. ForesightAI reads the same financials plus the credit ratings, leadership, news and the market.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inputs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95528" y="257860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financials, credit ratings, leadership, news, hiring and employee sentiment - fused into one 0-100 score.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3401568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is the financial leg. ForesightAI adds the market signals, so the score reflects the full public picture - and moves the day any of them 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4553712"/>
            <a:ext cx="3977640" cy="1554480"/>
          </a:xfrm>
          <a:prstGeom prst="roundRect">
            <a:avLst>
              <a:gd name="adj" fmla="val 5294"/>
            </a:avLst>
          </a:prstGeom>
          <a:solidFill>
            <a:srgbClr val="15274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4663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CASES, FIVE SECTORS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4919472"/>
            <a:ext cx="35661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Unitech </a:t>
            </a:r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 estate), </a:t>
            </a:r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Retail </a:t>
            </a:r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(retail), </a:t>
            </a:r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Communications </a:t>
            </a:r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(telecom), </a:t>
            </a:r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Jaiprakash Associates </a:t>
            </a:r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(infrastructure), </a:t>
            </a:r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Suzlon </a:t>
            </a:r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(renewables - a recovery). Real financials, real events.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49240" y="1664208"/>
            <a:ext cx="6263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- Reliance Communications (telecom)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1965960"/>
            <a:ext cx="6263640" cy="1207008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49240" y="4782312"/>
            <a:ext cx="6263640" cy="1207008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58968" y="1984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58968" y="57332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5989320"/>
            <a:ext cx="6263640" cy="914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12880" y="1965960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12880" y="2221992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12880" y="2478024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12880" y="2734056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12880" y="2990088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3246120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12880" y="3502152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12880" y="3758184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12880" y="4014216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4270248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12880" y="4526280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12880" y="4782312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612880" y="5038344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612880" y="5294376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12880" y="5550408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612880" y="5806440"/>
            <a:ext cx="914" cy="1280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1920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INSOLVENCY 2019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V="1">
            <a:off x="5349240" y="3575304"/>
            <a:ext cx="1565910" cy="1046074"/>
          </a:xfrm>
          <a:prstGeom prst="line">
            <a:avLst/>
          </a:prstGeom>
          <a:noFill/>
          <a:ln w="31750">
            <a:solidFill>
              <a:srgbClr val="5B9B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915150" y="2971800"/>
            <a:ext cx="1565910" cy="603504"/>
          </a:xfrm>
          <a:prstGeom prst="line">
            <a:avLst/>
          </a:prstGeom>
          <a:noFill/>
          <a:ln w="31750">
            <a:solidFill>
              <a:srgbClr val="5B9BD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8481060" y="2167128"/>
            <a:ext cx="1565910" cy="804672"/>
          </a:xfrm>
          <a:prstGeom prst="line">
            <a:avLst/>
          </a:prstGeom>
          <a:noFill/>
          <a:ln w="31750">
            <a:solidFill>
              <a:srgbClr val="5B9B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10046970" y="2126894"/>
            <a:ext cx="1565910" cy="40234"/>
          </a:xfrm>
          <a:prstGeom prst="line">
            <a:avLst/>
          </a:prstGeom>
          <a:noFill/>
          <a:ln w="31750">
            <a:solidFill>
              <a:srgbClr val="5B9BD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94376" y="4566514"/>
            <a:ext cx="109728" cy="109728"/>
          </a:xfrm>
          <a:prstGeom prst="ellipse">
            <a:avLst/>
          </a:prstGeom>
          <a:solidFill>
            <a:srgbClr val="5B9BD5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60286" y="3520440"/>
            <a:ext cx="109728" cy="109728"/>
          </a:xfrm>
          <a:prstGeom prst="ellipse">
            <a:avLst/>
          </a:prstGeom>
          <a:solidFill>
            <a:srgbClr val="5B9BD5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26196" y="2916936"/>
            <a:ext cx="109728" cy="109728"/>
          </a:xfrm>
          <a:prstGeom prst="ellipse">
            <a:avLst/>
          </a:prstGeom>
          <a:solidFill>
            <a:srgbClr val="5B9BD5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92106" y="2112264"/>
            <a:ext cx="109728" cy="109728"/>
          </a:xfrm>
          <a:prstGeom prst="ellipse">
            <a:avLst/>
          </a:prstGeom>
          <a:solidFill>
            <a:srgbClr val="5B9BD5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558016" y="2072030"/>
            <a:ext cx="109728" cy="109728"/>
          </a:xfrm>
          <a:prstGeom prst="ellipse">
            <a:avLst/>
          </a:prstGeom>
          <a:solidFill>
            <a:srgbClr val="5B9BD5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349240" y="3454603"/>
            <a:ext cx="1565910" cy="925373"/>
          </a:xfrm>
          <a:prstGeom prst="line">
            <a:avLst/>
          </a:prstGeom>
          <a:noFill/>
          <a:ln w="4445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915150" y="2609698"/>
            <a:ext cx="1565910" cy="844906"/>
          </a:xfrm>
          <a:prstGeom prst="line">
            <a:avLst/>
          </a:prstGeom>
          <a:noFill/>
          <a:ln w="4445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481060" y="2287829"/>
            <a:ext cx="1565910" cy="321869"/>
          </a:xfrm>
          <a:prstGeom prst="line">
            <a:avLst/>
          </a:prstGeom>
          <a:noFill/>
          <a:ln w="4445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046970" y="2126894"/>
            <a:ext cx="1565910" cy="160934"/>
          </a:xfrm>
          <a:prstGeom prst="line">
            <a:avLst/>
          </a:prstGeom>
          <a:noFill/>
          <a:ln w="4445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76088" y="4306824"/>
            <a:ext cx="146304" cy="14630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1998" y="3381451"/>
            <a:ext cx="146304" cy="14630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07908" y="2536546"/>
            <a:ext cx="146304" cy="14630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73818" y="2214677"/>
            <a:ext cx="146304" cy="14630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539728" y="2053742"/>
            <a:ext cx="146304" cy="14630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60441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FY15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49390" y="60441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FY16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115300" y="60441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FY17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681210" y="60441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FY18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247120" y="60441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FY19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116568" y="1984248"/>
            <a:ext cx="2468880" cy="804672"/>
          </a:xfrm>
          <a:prstGeom prst="roundRect">
            <a:avLst>
              <a:gd name="adj" fmla="val 6818"/>
            </a:avLst>
          </a:prstGeom>
          <a:solidFill>
            <a:srgbClr val="0A1628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81160" y="2240280"/>
            <a:ext cx="365760" cy="914"/>
          </a:xfrm>
          <a:prstGeom prst="line">
            <a:avLst/>
          </a:prstGeom>
          <a:noFill/>
          <a:ln w="4445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38360" y="21122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ForesightAI (comprehensive)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281160" y="2569464"/>
            <a:ext cx="365760" cy="914"/>
          </a:xfrm>
          <a:prstGeom prst="line">
            <a:avLst/>
          </a:prstGeom>
          <a:noFill/>
          <a:ln w="31750">
            <a:solidFill>
              <a:srgbClr val="5B9B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38360" y="24414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(financial only)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risk analyst for </a:t>
            </a:r>
            <a:pPr indent="0" marL="0">
              <a:buNone/>
            </a:pPr>
            <a:r>
              <a:rPr lang="en-US" sz="3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 in your book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5528" y="13167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credit reviews   .   earlier watch-list triage   .   one defensible number, on demand.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2331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891" y="24853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" y="308152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6696" y="342900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inputs - financials, ratings, leadership, news, hiring, sentiment - in one score.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38728" y="20574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94760" y="2331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379" y="24853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58184" y="308152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automated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758184" y="342900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listed company, on demand. No manual pull, no waiting on filings.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0216" y="20574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56248" y="2331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867" y="24853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9672" y="308152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519672" y="342900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traces to a real ratio, rating or headline.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61704" y="20574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0F1E33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17736" y="2331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355" y="24853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308152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real cases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81160" y="342900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 across five real collapses, in five sectors.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77240" y="5029200"/>
            <a:ext cx="5669280" cy="9144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50292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   </a:t>
            </a:r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foresightai.streamlit.app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22960" y="6053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notebooks: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github.com/hiralsarkar/ForesightAI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903720" y="5029200"/>
            <a:ext cx="4526280" cy="914400"/>
          </a:xfrm>
          <a:prstGeom prst="roundRect">
            <a:avLst>
              <a:gd name="adj" fmla="val 9000"/>
            </a:avLst>
          </a:prstGeom>
          <a:solidFill>
            <a:srgbClr val="15274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178040" y="5138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READ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178040" y="54132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229600" y="5440680"/>
            <a:ext cx="2377440" cy="146304"/>
          </a:xfrm>
          <a:prstGeom prst="roundRect">
            <a:avLst>
              <a:gd name="adj" fmla="val 50000"/>
            </a:avLst>
          </a:prstGeom>
          <a:solidFill>
            <a:srgbClr val="1E3350"/>
          </a:solidFill>
          <a:ln/>
        </p:spPr>
      </p:sp>
      <p:sp>
        <p:nvSpPr>
          <p:cNvPr id="31" name="Shape 25"/>
          <p:cNvSpPr/>
          <p:nvPr/>
        </p:nvSpPr>
        <p:spPr>
          <a:xfrm>
            <a:off x="8229600" y="5440680"/>
            <a:ext cx="1474013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2" name="Text 26"/>
          <p:cNvSpPr/>
          <p:nvPr/>
        </p:nvSpPr>
        <p:spPr>
          <a:xfrm>
            <a:off x="7178040" y="56692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229600" y="5696712"/>
            <a:ext cx="2377440" cy="146304"/>
          </a:xfrm>
          <a:prstGeom prst="roundRect">
            <a:avLst>
              <a:gd name="adj" fmla="val 50000"/>
            </a:avLst>
          </a:prstGeom>
          <a:solidFill>
            <a:srgbClr val="1E3350"/>
          </a:solidFill>
          <a:ln/>
        </p:spPr>
      </p:sp>
      <p:sp>
        <p:nvSpPr>
          <p:cNvPr id="34" name="Shape 28"/>
          <p:cNvSpPr/>
          <p:nvPr/>
        </p:nvSpPr>
        <p:spPr>
          <a:xfrm>
            <a:off x="8229600" y="5696712"/>
            <a:ext cx="1188720" cy="14630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graphicFrame>
        <p:nvGraphicFramePr>
          <p:cNvPr id="35" name="Chart 0" descr=""/>
          <p:cNvGraphicFramePr/>
          <p:nvPr/>
        </p:nvGraphicFramePr>
        <p:xfrm>
          <a:off x="10561320" y="5120640"/>
          <a:ext cx="73152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6" name="Text 29"/>
          <p:cNvSpPr/>
          <p:nvPr/>
        </p:nvSpPr>
        <p:spPr>
          <a:xfrm>
            <a:off x="10561320" y="53218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2026-08-05T13:54:34Z</dcterms:created>
  <dcterms:modified xsi:type="dcterms:W3CDTF">2026-08-05T13:54:34Z</dcterms:modified>
</cp:coreProperties>
</file>