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3350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3350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2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CORPORATE RISK ENGINE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</a:t>
            </a:r>
            <a:pPr indent="0" marL="0">
              <a:buNone/>
            </a:pPr>
            <a:r>
              <a:rPr lang="en-US" sz="6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7040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any listed Indian company. Get a live, explainable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read in seconds - the Altman Z-Score fused with market signals: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ratings, leadership changes and live news.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4160520" cy="566928"/>
          </a:xfrm>
          <a:prstGeom prst="roundRect">
            <a:avLst>
              <a:gd name="adj" fmla="val 50000"/>
            </a:avLst>
          </a:prstGeom>
          <a:solidFill>
            <a:srgbClr val="152740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977640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</a:t>
            </a:r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foresightai.streamlit.app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 +  credit ratings  +  leadership  +  news   .   NSE-listed   .   validated on 5 real collapses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0" y="1508760"/>
            <a:ext cx="3291840" cy="3291840"/>
          </a:xfrm>
          <a:prstGeom prst="ellipse">
            <a:avLst/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9006840" y="1828800"/>
          <a:ext cx="2651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9006840" y="248716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9006840" y="33101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100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06840" y="181051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0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explainable, on demand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warning signs are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Nobody reads them in time.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984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builds for years in the filings and the headlines - but the read is slow, manual and scattered.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2258568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4580" y="2399020"/>
            <a:ext cx="304312" cy="304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305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Backward-looking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468880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statements lag reality by quarters. By the time the ratios turn, the market already knows.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3319272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24128" y="3611880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580" y="3752332"/>
            <a:ext cx="304312" cy="304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48386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one by one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822192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read filings company by company. Coverage is thin and the slowest names get watched last.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4672584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24128" y="4965192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580" y="5105644"/>
            <a:ext cx="304312" cy="304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8371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sit apart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175504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moves before the accounts do - but the numbers and the narrative live in different places.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086600" y="1965960"/>
            <a:ext cx="4343400" cy="3913632"/>
          </a:xfrm>
          <a:prstGeom prst="roundRect">
            <a:avLst>
              <a:gd name="adj" fmla="val 2103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406640" y="2212848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HINDSIGHT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406640" y="2542032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Communications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7360920" y="306324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400" dirty="0"/>
          </a:p>
        </p:txBody>
      </p:sp>
      <p:sp>
        <p:nvSpPr>
          <p:cNvPr id="23" name="Text 18"/>
          <p:cNvSpPr/>
          <p:nvPr/>
        </p:nvSpPr>
        <p:spPr>
          <a:xfrm>
            <a:off x="8778240" y="320040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</a:t>
            </a:r>
            <a:pPr indent="0" marL="0">
              <a:lnSpc>
                <a:spcPct val="102000"/>
              </a:lnSpc>
              <a:buNone/>
            </a:pPr>
            <a:endParaRPr lang="en-US" sz="2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warning before</a:t>
            </a:r>
            <a:endParaRPr lang="en-US" sz="2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insolvency</a:t>
            </a:r>
            <a:endParaRPr lang="en-US" sz="2000" dirty="0"/>
          </a:p>
        </p:txBody>
      </p:sp>
      <p:sp>
        <p:nvSpPr>
          <p:cNvPr id="24" name="Shape 19"/>
          <p:cNvSpPr/>
          <p:nvPr/>
        </p:nvSpPr>
        <p:spPr>
          <a:xfrm>
            <a:off x="7452360" y="4526280"/>
            <a:ext cx="777240" cy="182880"/>
          </a:xfrm>
          <a:prstGeom prst="line">
            <a:avLst/>
          </a:prstGeom>
          <a:noFill/>
          <a:ln w="31750">
            <a:solidFill>
              <a:srgbClr val="EF444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229600" y="4709160"/>
            <a:ext cx="777240" cy="182880"/>
          </a:xfrm>
          <a:prstGeom prst="line">
            <a:avLst/>
          </a:prstGeom>
          <a:noFill/>
          <a:ln w="31750">
            <a:solidFill>
              <a:srgbClr val="EF444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006840" y="4892040"/>
            <a:ext cx="777240" cy="320040"/>
          </a:xfrm>
          <a:prstGeom prst="line">
            <a:avLst/>
          </a:prstGeom>
          <a:noFill/>
          <a:ln w="31750">
            <a:solidFill>
              <a:srgbClr val="EF4444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784080" y="5212080"/>
            <a:ext cx="868680" cy="91440"/>
          </a:xfrm>
          <a:prstGeom prst="line">
            <a:avLst/>
          </a:prstGeom>
          <a:noFill/>
          <a:ln w="31750">
            <a:solidFill>
              <a:srgbClr val="EF4444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402068" y="4475988"/>
            <a:ext cx="100584" cy="100584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9" name="Shape 24"/>
          <p:cNvSpPr/>
          <p:nvPr/>
        </p:nvSpPr>
        <p:spPr>
          <a:xfrm>
            <a:off x="8179308" y="4658868"/>
            <a:ext cx="100584" cy="10058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Shape 25"/>
          <p:cNvSpPr/>
          <p:nvPr/>
        </p:nvSpPr>
        <p:spPr>
          <a:xfrm>
            <a:off x="8956548" y="4841748"/>
            <a:ext cx="100584" cy="100584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1" name="Shape 26"/>
          <p:cNvSpPr/>
          <p:nvPr/>
        </p:nvSpPr>
        <p:spPr>
          <a:xfrm>
            <a:off x="9733788" y="5161788"/>
            <a:ext cx="100584" cy="100584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2" name="Shape 27"/>
          <p:cNvSpPr/>
          <p:nvPr/>
        </p:nvSpPr>
        <p:spPr>
          <a:xfrm>
            <a:off x="10602468" y="5253228"/>
            <a:ext cx="100584" cy="100584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3" name="Text 28"/>
          <p:cNvSpPr/>
          <p:nvPr/>
        </p:nvSpPr>
        <p:spPr>
          <a:xfrm>
            <a:off x="7406640" y="5504688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entered distress in FY2016. Filed for insolvency in 2019.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pipeline,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explainable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hard-coded. Pick a name and every step runs on the spot.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6172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0515" y="2442911"/>
            <a:ext cx="399410" cy="399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company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95528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NSE-listed name, chosen on demand.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930652"/>
            <a:ext cx="402336" cy="4023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584448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66260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603" y="2442911"/>
            <a:ext cx="399410" cy="3994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49040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721608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live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3785616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from Screener + latest news from Google News.</a:t>
            </a:r>
            <a:endParaRPr lang="en-US" sz="12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4184" y="2930652"/>
            <a:ext cx="402336" cy="40233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574536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356348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691" y="2442911"/>
            <a:ext cx="399410" cy="39941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739128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711696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signals</a:t>
            </a:r>
            <a:endParaRPr lang="en-US" sz="1650" dirty="0"/>
          </a:p>
        </p:txBody>
      </p:sp>
      <p:sp>
        <p:nvSpPr>
          <p:cNvPr id="23" name="Text 16"/>
          <p:cNvSpPr/>
          <p:nvPr/>
        </p:nvSpPr>
        <p:spPr>
          <a:xfrm>
            <a:off x="6775704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financials + a five-signal market pulse.</a:t>
            </a:r>
            <a:endParaRPr lang="en-US" sz="12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4272" y="2930652"/>
            <a:ext cx="402336" cy="40233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564624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1527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10346436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0779" y="2442911"/>
            <a:ext cx="399410" cy="39941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729216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701784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+ explain</a:t>
            </a:r>
            <a:endParaRPr lang="en-US" sz="1650" dirty="0"/>
          </a:p>
        </p:txBody>
      </p:sp>
      <p:sp>
        <p:nvSpPr>
          <p:cNvPr id="30" name="Text 21"/>
          <p:cNvSpPr/>
          <p:nvPr/>
        </p:nvSpPr>
        <p:spPr>
          <a:xfrm>
            <a:off x="9765792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0-100 risk read, every point traced to a real ratio, rating or headline.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594360" y="4709160"/>
            <a:ext cx="11002975" cy="1417320"/>
          </a:xfrm>
          <a:prstGeom prst="roundRect">
            <a:avLst>
              <a:gd name="adj" fmla="val 5806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868680" y="49103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SCORE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868680" y="52760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354" y="5407762"/>
            <a:ext cx="285293" cy="285293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54480" y="525780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leg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Original 1968 Altman Z - working capital, retained earnings, EBIT, market equity, sales. A trusted distress formula, computed live and decomposed term by term.</a:t>
            </a:r>
            <a:endParaRPr lang="en-US" sz="1450" dirty="0"/>
          </a:p>
        </p:txBody>
      </p:sp>
      <p:sp>
        <p:nvSpPr>
          <p:cNvPr id="36" name="Shape 26"/>
          <p:cNvSpPr/>
          <p:nvPr/>
        </p:nvSpPr>
        <p:spPr>
          <a:xfrm>
            <a:off x="6446520" y="5166360"/>
            <a:ext cx="914" cy="685800"/>
          </a:xfrm>
          <a:prstGeom prst="line">
            <a:avLst/>
          </a:prstGeom>
          <a:noFill/>
          <a:ln w="12700">
            <a:solidFill>
              <a:srgbClr val="1E3350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720840" y="52760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2514" y="5407762"/>
            <a:ext cx="285293" cy="285293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7406640" y="5239512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leg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Five signals that move before the accounts do: credit rating (0.30), leadership changes (0.25), news sentiment (0.25), hiring (0.10), employee confidence (0.10). A rating cut to 'D' or an auditor exit floors the score - facts, not moods.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it have warned you?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early.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real collapses, replayed - the Altman Z merged with the signals that led the accounts.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95528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early warning on Reliance Communications.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95528" y="310896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slid into distress by FY2016 - and the rating cut, the Ericsson insolvency plea and the news cascade all pointed the same way, three years before the 2019 filing.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4526280"/>
            <a:ext cx="3977640" cy="1572768"/>
          </a:xfrm>
          <a:prstGeom prst="roundRect">
            <a:avLst>
              <a:gd name="adj" fmla="val 5233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464515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CASES, FIVE DYNAMICS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901184"/>
            <a:ext cx="35661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RCom &amp; Suzlon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Altman leads (Suzlon even recovers). 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DHFL &amp; IL&amp;FS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NBFCs where Altman is blind; IL&amp;FS was rated AAA and only the signals led. 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Manpasand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an auditor exit, 12 months early.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349240" y="1965960"/>
            <a:ext cx="6263640" cy="243840"/>
          </a:xfrm>
          <a:prstGeom prst="rect">
            <a:avLst/>
          </a:prstGeom>
          <a:solidFill>
            <a:srgbClr val="22C55E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349240" y="2209800"/>
            <a:ext cx="6263640" cy="914400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349240" y="3124200"/>
            <a:ext cx="6263640" cy="2865120"/>
          </a:xfrm>
          <a:prstGeom prst="rect">
            <a:avLst/>
          </a:prstGeom>
          <a:solidFill>
            <a:srgbClr val="EF4444">
              <a:alpha val="1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349240" y="2209800"/>
            <a:ext cx="6263640" cy="914"/>
          </a:xfrm>
          <a:prstGeom prst="line">
            <a:avLst/>
          </a:prstGeom>
          <a:noFill/>
          <a:ln w="12700">
            <a:solidFill>
              <a:srgbClr val="22C5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49240" y="3124200"/>
            <a:ext cx="6263640" cy="914"/>
          </a:xfrm>
          <a:prstGeom prst="line">
            <a:avLst/>
          </a:prstGeom>
          <a:noFill/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58968" y="198424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 Z'' &gt; 2.6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58968" y="317906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 Z'' &lt; 1.1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49240" y="5989320"/>
            <a:ext cx="6263640" cy="914"/>
          </a:xfrm>
          <a:prstGeom prst="line">
            <a:avLst/>
          </a:prstGeom>
          <a:noFill/>
          <a:ln w="12700">
            <a:solidFill>
              <a:srgbClr val="1E33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12880" y="1965960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12880" y="2221992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12880" y="2478024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12880" y="2734056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12880" y="2990088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612880" y="3246120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12880" y="3502152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612880" y="3758184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612880" y="4014216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612880" y="4270248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612880" y="4526280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612880" y="4782312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612880" y="5038344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612880" y="5294376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612880" y="5550408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612880" y="5806440"/>
            <a:ext cx="914" cy="128016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75520" y="192024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INSOLVENCY 2019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349240" y="2587752"/>
            <a:ext cx="1565910" cy="88392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15150" y="3471672"/>
            <a:ext cx="1565910" cy="54864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81060" y="4020312"/>
            <a:ext cx="1565910" cy="1487424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46970" y="5507736"/>
            <a:ext cx="1565910" cy="18288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0660" y="2519172"/>
            <a:ext cx="137160" cy="137160"/>
          </a:xfrm>
          <a:prstGeom prst="ellipse">
            <a:avLst/>
          </a:prstGeom>
          <a:solidFill>
            <a:srgbClr val="F59E0B"/>
          </a:solidFill>
          <a:ln w="19050">
            <a:solidFill>
              <a:srgbClr val="0A162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14566" y="3371088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12480" y="3951732"/>
            <a:ext cx="137160" cy="137160"/>
          </a:xfrm>
          <a:prstGeom prst="ellipse">
            <a:avLst/>
          </a:prstGeom>
          <a:solidFill>
            <a:srgbClr val="F59E0B"/>
          </a:solidFill>
          <a:ln w="19050">
            <a:solidFill>
              <a:srgbClr val="0A162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78390" y="5439156"/>
            <a:ext cx="137160" cy="137160"/>
          </a:xfrm>
          <a:prstGeom prst="ellipse">
            <a:avLst/>
          </a:prstGeom>
          <a:solidFill>
            <a:srgbClr val="F59E0B"/>
          </a:solidFill>
          <a:ln w="19050">
            <a:solidFill>
              <a:srgbClr val="0A162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544300" y="5622036"/>
            <a:ext cx="137160" cy="137160"/>
          </a:xfrm>
          <a:prstGeom prst="ellipse">
            <a:avLst/>
          </a:prstGeom>
          <a:solidFill>
            <a:srgbClr val="F59E0B"/>
          </a:solidFill>
          <a:ln w="19050">
            <a:solidFill>
              <a:srgbClr val="0A162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83480" y="604418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FY15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9390" y="604418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FY16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115300" y="604418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FY17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681210" y="604418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FY18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1247120" y="604418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FY19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595110" y="363626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flagged FY16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412480" y="3951732"/>
            <a:ext cx="137160" cy="137160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978390" y="5439156"/>
            <a:ext cx="137160" cy="137160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738360" y="20574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MERGED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761220" y="2354580"/>
            <a:ext cx="100584" cy="10058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54" name="Text 52"/>
          <p:cNvSpPr/>
          <p:nvPr/>
        </p:nvSpPr>
        <p:spPr>
          <a:xfrm>
            <a:off x="9957816" y="2276856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rating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761220" y="2592324"/>
            <a:ext cx="100584" cy="10058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6" name="Text 54"/>
          <p:cNvSpPr/>
          <p:nvPr/>
        </p:nvSpPr>
        <p:spPr>
          <a:xfrm>
            <a:off x="9957816" y="2514600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9761220" y="2830068"/>
            <a:ext cx="100584" cy="100584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58" name="Text 56"/>
          <p:cNvSpPr/>
          <p:nvPr/>
        </p:nvSpPr>
        <p:spPr>
          <a:xfrm>
            <a:off x="9957816" y="2752344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9761220" y="3067812"/>
            <a:ext cx="100584" cy="100584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60" name="Text 58"/>
          <p:cNvSpPr/>
          <p:nvPr/>
        </p:nvSpPr>
        <p:spPr>
          <a:xfrm>
            <a:off x="9957816" y="299008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analyst for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name in your book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31673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credit reviews   .   earlier watch-list triage   .   one defensible number, on demand.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6891" y="24853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automated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96696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company, on demand. No manual pull, no waiting on filings.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538728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94760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379" y="24853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58184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3758184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fused with credit ratings, leadership, news and hiring.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00216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56248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867" y="24853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19672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6519672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real ratio or a real headline.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9061704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317736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1355" y="248533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1160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history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9281160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real bankruptcies years before the event.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777240" y="5029200"/>
            <a:ext cx="5669280" cy="9144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25" name="Text 19"/>
          <p:cNvSpPr/>
          <p:nvPr/>
        </p:nvSpPr>
        <p:spPr>
          <a:xfrm>
            <a:off x="777240" y="50292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   </a:t>
            </a:r>
            <a:pPr algn="ctr"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foresightai.streamlit.app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822960" y="60533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&amp; notebooks: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github.com/hiralsarkar/ForesightAI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903720" y="5029200"/>
            <a:ext cx="4526280" cy="914400"/>
          </a:xfrm>
          <a:prstGeom prst="roundRect">
            <a:avLst>
              <a:gd name="adj" fmla="val 9000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178040" y="51389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READ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7178040" y="541324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8229600" y="5440680"/>
            <a:ext cx="2377440" cy="146304"/>
          </a:xfrm>
          <a:prstGeom prst="roundRect">
            <a:avLst>
              <a:gd name="adj" fmla="val 50000"/>
            </a:avLst>
          </a:prstGeom>
          <a:solidFill>
            <a:srgbClr val="1E3350"/>
          </a:solidFill>
          <a:ln/>
        </p:spPr>
      </p:sp>
      <p:sp>
        <p:nvSpPr>
          <p:cNvPr id="31" name="Shape 25"/>
          <p:cNvSpPr/>
          <p:nvPr/>
        </p:nvSpPr>
        <p:spPr>
          <a:xfrm>
            <a:off x="8229600" y="5440680"/>
            <a:ext cx="1474013" cy="14630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32" name="Text 26"/>
          <p:cNvSpPr/>
          <p:nvPr/>
        </p:nvSpPr>
        <p:spPr>
          <a:xfrm>
            <a:off x="7178040" y="566928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8229600" y="5696712"/>
            <a:ext cx="2377440" cy="146304"/>
          </a:xfrm>
          <a:prstGeom prst="roundRect">
            <a:avLst>
              <a:gd name="adj" fmla="val 50000"/>
            </a:avLst>
          </a:prstGeom>
          <a:solidFill>
            <a:srgbClr val="1E3350"/>
          </a:solidFill>
          <a:ln/>
        </p:spPr>
      </p:sp>
      <p:sp>
        <p:nvSpPr>
          <p:cNvPr id="34" name="Shape 28"/>
          <p:cNvSpPr/>
          <p:nvPr/>
        </p:nvSpPr>
        <p:spPr>
          <a:xfrm>
            <a:off x="8229600" y="5696712"/>
            <a:ext cx="1188720" cy="14630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graphicFrame>
        <p:nvGraphicFramePr>
          <p:cNvPr id="35" name="Chart 0" descr=""/>
          <p:cNvGraphicFramePr/>
          <p:nvPr/>
        </p:nvGraphicFramePr>
        <p:xfrm>
          <a:off x="10561320" y="5120640"/>
          <a:ext cx="731520" cy="731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6" name="Text 29"/>
          <p:cNvSpPr/>
          <p:nvPr/>
        </p:nvSpPr>
        <p:spPr>
          <a:xfrm>
            <a:off x="10561320" y="532180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2026-08-05T12:37:13Z</dcterms:created>
  <dcterms:modified xsi:type="dcterms:W3CDTF">2026-08-05T12:37:13Z</dcterms:modified>
</cp:coreProperties>
</file>