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D1CE-47F4-A59C-17DCD59A40B0}"/>
              </c:ext>
            </c:extLst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D1CE-47F4-A59C-17DCD59A40B0}"/>
              </c:ext>
            </c:extLst>
          </c:dPt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1CE-47F4-A59C-17DCD59A40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Altman (financial-only)</c:v>
                </c:pt>
              </c:strCache>
            </c:strRef>
          </c:tx>
          <c:spPr>
            <a:solidFill>
              <a:srgbClr val="5B9BD5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FY15</c:v>
                </c:pt>
                <c:pt idx="1">
                  <c:v>FY16</c:v>
                </c:pt>
                <c:pt idx="2">
                  <c:v>FY17</c:v>
                </c:pt>
                <c:pt idx="3">
                  <c:v>FY18</c:v>
                </c:pt>
                <c:pt idx="4">
                  <c:v>FY19</c:v>
                </c:pt>
                <c:pt idx="5">
                  <c:v>FY20</c:v>
                </c:pt>
                <c:pt idx="6">
                  <c:v>FY21</c:v>
                </c:pt>
                <c:pt idx="7">
                  <c:v>FY22</c:v>
                </c:pt>
                <c:pt idx="8">
                  <c:v>FY23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</c:v>
                </c:pt>
                <c:pt idx="1">
                  <c:v>20</c:v>
                </c:pt>
                <c:pt idx="2">
                  <c:v>21</c:v>
                </c:pt>
                <c:pt idx="3">
                  <c:v>29</c:v>
                </c:pt>
                <c:pt idx="4">
                  <c:v>34</c:v>
                </c:pt>
                <c:pt idx="5">
                  <c:v>49</c:v>
                </c:pt>
                <c:pt idx="6">
                  <c:v>63</c:v>
                </c:pt>
                <c:pt idx="7">
                  <c:v>69</c:v>
                </c:pt>
                <c:pt idx="8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01-4D2F-96DC-1B2F4918DE4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Added risk: market signals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FY15</c:v>
                </c:pt>
                <c:pt idx="1">
                  <c:v>FY16</c:v>
                </c:pt>
                <c:pt idx="2">
                  <c:v>FY17</c:v>
                </c:pt>
                <c:pt idx="3">
                  <c:v>FY18</c:v>
                </c:pt>
                <c:pt idx="4">
                  <c:v>FY19</c:v>
                </c:pt>
                <c:pt idx="5">
                  <c:v>FY20</c:v>
                </c:pt>
                <c:pt idx="6">
                  <c:v>FY21</c:v>
                </c:pt>
                <c:pt idx="7">
                  <c:v>FY22</c:v>
                </c:pt>
                <c:pt idx="8">
                  <c:v>FY23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</c:v>
                </c:pt>
                <c:pt idx="1">
                  <c:v>28</c:v>
                </c:pt>
                <c:pt idx="2">
                  <c:v>37</c:v>
                </c:pt>
                <c:pt idx="3">
                  <c:v>45</c:v>
                </c:pt>
                <c:pt idx="4">
                  <c:v>43</c:v>
                </c:pt>
                <c:pt idx="5">
                  <c:v>34</c:v>
                </c:pt>
                <c:pt idx="6">
                  <c:v>23</c:v>
                </c:pt>
                <c:pt idx="7">
                  <c:v>19</c:v>
                </c:pt>
                <c:pt idx="8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01-4D2F-96DC-1B2F4918DE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FFFFFF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9E0B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329-49C7-9E0C-634D159C3487}"/>
              </c:ext>
            </c:extLst>
          </c:dPt>
          <c:dPt>
            <c:idx val="1"/>
            <c:bubble3D val="0"/>
            <c:spPr>
              <a:solidFill>
                <a:srgbClr val="1E3350"/>
              </a:solidFill>
              <a:ln w="9525" cap="flat">
                <a:solidFill>
                  <a:srgbClr val="0A162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329-49C7-9E0C-634D159C3487}"/>
              </c:ext>
            </c:extLst>
          </c:dPt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58</c:v>
                </c:pt>
                <c:pt idx="1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329-49C7-9E0C-634D159C34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528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oresightai.streamlit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iralsarkar/ForesightAI" TargetMode="External"/><Relationship Id="rId3" Type="http://schemas.openxmlformats.org/officeDocument/2006/relationships/image" Target="../media/image9.png"/><Relationship Id="rId7" Type="http://schemas.openxmlformats.org/officeDocument/2006/relationships/hyperlink" Target="https://foresightai.streamlit.app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CORPORATE RISK INTELLIGENCE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</a:t>
            </a:r>
            <a:r>
              <a:rPr lang="en-US" sz="6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22960" y="2788919"/>
            <a:ext cx="7863840" cy="1198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2000"/>
              </a:lnSpc>
            </a:pPr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explainable 0-100 score</a:t>
            </a:r>
            <a:r>
              <a:rPr lang="en-US" dirty="0"/>
              <a:t> </a:t>
            </a: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fuses the </a:t>
            </a: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Z-Score </a:t>
            </a: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(Company Financial Analysis) with the </a:t>
            </a: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signals </a:t>
            </a:r>
            <a:r>
              <a:rPr lang="en-US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(credit ratings, leadership, news, hiring and employee sentiment) Live, giving you a Comprehensive Understanding in one go.</a:t>
            </a:r>
            <a:endParaRPr lang="en-US" sz="1800" dirty="0"/>
          </a:p>
        </p:txBody>
      </p:sp>
      <p:sp>
        <p:nvSpPr>
          <p:cNvPr id="5" name="Shape 3">
            <a:hlinkClick r:id="rId3" tooltip="Open the live Foresight AI dashboard"/>
          </p:cNvPr>
          <p:cNvSpPr/>
          <p:nvPr/>
        </p:nvSpPr>
        <p:spPr>
          <a:xfrm>
            <a:off x="822960" y="4132913"/>
            <a:ext cx="4160520" cy="566928"/>
          </a:xfrm>
          <a:prstGeom prst="roundRect">
            <a:avLst>
              <a:gd name="adj" fmla="val 50000"/>
            </a:avLst>
          </a:prstGeom>
          <a:solidFill>
            <a:srgbClr val="1527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6" name="Text 4">
            <a:hlinkClick r:id="rId3" tooltip="Open the live Foresight AI dashboard"/>
          </p:cNvPr>
          <p:cNvSpPr/>
          <p:nvPr/>
        </p:nvSpPr>
        <p:spPr>
          <a:xfrm>
            <a:off x="822960" y="4141537"/>
            <a:ext cx="4160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tooltip="Open the live Foresight AI dashboar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 </a:t>
            </a:r>
            <a:r>
              <a:rPr lang="en-US" sz="1500" b="1" u="sng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tooltip="Open the live Foresight AI dashboar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 +  credit ratings  +  leadership  +  news   .   NSE-listed   .   validated on 5 real collapses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0" y="1508760"/>
            <a:ext cx="3291840" cy="3291840"/>
          </a:xfrm>
          <a:prstGeom prst="ellipse">
            <a:avLst/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graphicFrame>
        <p:nvGraphicFramePr>
          <p:cNvPr id="9" name="Chart 0"/>
          <p:cNvGraphicFramePr/>
          <p:nvPr/>
        </p:nvGraphicFramePr>
        <p:xfrm>
          <a:off x="9006840" y="18288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7"/>
          <p:cNvSpPr/>
          <p:nvPr/>
        </p:nvSpPr>
        <p:spPr>
          <a:xfrm>
            <a:off x="9006840" y="248716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9006840" y="33101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100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06840" y="162073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0" y="4892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explainable, on demand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warning signs are </a:t>
            </a: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Nobody reads them in time.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builds for years in the filings and the headlines - but the read is slow, manual and scattered.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258568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580" y="2399020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3055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68880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statements lag reality by quarters. By the time the ratios turn, the market already knows.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319272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24128" y="3611880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580" y="3752332"/>
            <a:ext cx="304312" cy="304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48386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one by one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822192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read filings company by company. Coverage is thin and the slowest names get watched last.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4672584"/>
            <a:ext cx="5989320" cy="1170432"/>
          </a:xfrm>
          <a:prstGeom prst="roundRect">
            <a:avLst>
              <a:gd name="adj" fmla="val 7031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24128" y="4965192"/>
            <a:ext cx="585216" cy="58521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4580" y="5105644"/>
            <a:ext cx="304312" cy="304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8371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sit apart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175504"/>
            <a:ext cx="4800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moves before the accounts do - but the numbers and the narrative live in different places.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086600" y="1965960"/>
            <a:ext cx="4343400" cy="3913632"/>
          </a:xfrm>
          <a:prstGeom prst="roundRect">
            <a:avLst>
              <a:gd name="adj" fmla="val 2103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212848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FORESIGHT FIX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406640" y="2542032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public, in one score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7999268" y="3156572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400" dirty="0"/>
          </a:p>
        </p:txBody>
      </p:sp>
      <p:sp>
        <p:nvSpPr>
          <p:cNvPr id="23" name="Text 18"/>
          <p:cNvSpPr/>
          <p:nvPr/>
        </p:nvSpPr>
        <p:spPr>
          <a:xfrm>
            <a:off x="8641080" y="3200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2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into one</a:t>
            </a:r>
            <a:endParaRPr lang="en-US" sz="2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score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7406640" y="4431391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 .  Credit ratings  .  Leadership  .  </a:t>
            </a:r>
            <a:b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 .  Hiring  .  Employee sentiment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7406640" y="5345794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 and explained - not scattered across ten browser tabs.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pipeline, </a:t>
            </a: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explainable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hard-coded. Pick a name and every step runs on the spot.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6172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515" y="2442911"/>
            <a:ext cx="399410" cy="399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company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95528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NSE-listed name, chosen on demand.</a:t>
            </a:r>
            <a:endParaRPr lang="en-US" sz="12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096" y="2930652"/>
            <a:ext cx="402336" cy="4023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584448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66260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603" y="2442911"/>
            <a:ext cx="399410" cy="3994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49040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721608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live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3785616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from Screener + latest news from Google News.</a:t>
            </a:r>
            <a:endParaRPr lang="en-US" sz="12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184" y="2930652"/>
            <a:ext cx="402336" cy="40233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74536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356348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0691" y="2442911"/>
            <a:ext cx="399410" cy="39941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739128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711696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signals</a:t>
            </a:r>
            <a:endParaRPr lang="en-US" sz="1650" dirty="0"/>
          </a:p>
        </p:txBody>
      </p:sp>
      <p:sp>
        <p:nvSpPr>
          <p:cNvPr id="23" name="Text 16"/>
          <p:cNvSpPr/>
          <p:nvPr/>
        </p:nvSpPr>
        <p:spPr>
          <a:xfrm>
            <a:off x="6775704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 financials + a five-signal market pulse.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2" y="2930652"/>
            <a:ext cx="402336" cy="40233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564624" y="1965960"/>
            <a:ext cx="2331720" cy="2331720"/>
          </a:xfrm>
          <a:prstGeom prst="roundRect">
            <a:avLst>
              <a:gd name="adj" fmla="val 3529"/>
            </a:avLst>
          </a:prstGeom>
          <a:solidFill>
            <a:srgbClr val="1527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10346436" y="2258568"/>
            <a:ext cx="768096" cy="768096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0779" y="2442911"/>
            <a:ext cx="399410" cy="39941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729216" y="211226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701784" y="317296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+ explain</a:t>
            </a:r>
            <a:endParaRPr lang="en-US" sz="1650" dirty="0"/>
          </a:p>
        </p:txBody>
      </p:sp>
      <p:sp>
        <p:nvSpPr>
          <p:cNvPr id="30" name="Text 21"/>
          <p:cNvSpPr/>
          <p:nvPr/>
        </p:nvSpPr>
        <p:spPr>
          <a:xfrm>
            <a:off x="9765792" y="3557016"/>
            <a:ext cx="19293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0-100 risk read, every point traced to a real ratio, rating or headline.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594360" y="4709160"/>
            <a:ext cx="11002975" cy="1417320"/>
          </a:xfrm>
          <a:prstGeom prst="roundRect">
            <a:avLst>
              <a:gd name="adj" fmla="val 5806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868680" y="4841319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SCORE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86868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354" y="5407762"/>
            <a:ext cx="285293" cy="285293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54480" y="518879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leg</a:t>
            </a: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Original 1968 Altman Z - working capital, retained earnings, EBIT, market equity, sales. A trusted distress formula, computed live and decomposed term by term.</a:t>
            </a:r>
            <a:endParaRPr lang="en-US" sz="1450" dirty="0"/>
          </a:p>
        </p:txBody>
      </p:sp>
      <p:sp>
        <p:nvSpPr>
          <p:cNvPr id="36" name="Shape 26"/>
          <p:cNvSpPr/>
          <p:nvPr/>
        </p:nvSpPr>
        <p:spPr>
          <a:xfrm>
            <a:off x="6446520" y="5166360"/>
            <a:ext cx="914" cy="685800"/>
          </a:xfrm>
          <a:prstGeom prst="line">
            <a:avLst/>
          </a:prstGeom>
          <a:noFill/>
          <a:ln w="12700">
            <a:solidFill>
              <a:srgbClr val="1E3350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720840" y="527608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2514" y="5407762"/>
            <a:ext cx="285293" cy="285293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406640" y="5118743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leg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Five signals that move before the accounts do: credit rating (0.30), leadership changes (0.25), news sentiment (0.25), hiring (0.10), employee confidence (0.10). A rating cut to 'D' or an auditor exit floors the score - facts, not moods.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score, on real history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225296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reads the annual filings. ForesightAI reads the same financials plus the credit ratings, leadership, news and the market.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77240" y="1874520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inputs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95528" y="2578608"/>
            <a:ext cx="3977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financials, credit ratings, leadership, news, hiring and employee sentiment - fused into one 0-100 score.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" y="3401568"/>
            <a:ext cx="3977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is the financial leg. ForesightAI adds the market signals, so the score reflects the full public picture - and moves the day any of them do.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4553712"/>
            <a:ext cx="3776472" cy="1976484"/>
          </a:xfrm>
          <a:prstGeom prst="roundRect">
            <a:avLst>
              <a:gd name="adj" fmla="val 5294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4812" y="4672066"/>
            <a:ext cx="278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CASES, FIVE SECTORS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13429" y="5040240"/>
            <a:ext cx="3368789" cy="1231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Unitech 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(real estate), </a:t>
            </a:r>
            <a:b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Retail 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(retail), </a:t>
            </a:r>
            <a:b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Communications 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(telecom), </a:t>
            </a:r>
            <a:b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Jaiprakash Associates 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(infrastructure), </a:t>
            </a:r>
            <a:b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Suzlon 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(renewables - a recovery). </a:t>
            </a:r>
            <a:b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financials, real events.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49240" y="1755648"/>
            <a:ext cx="6263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- Unitech (real estate): Altman read Safe for years</a:t>
            </a:r>
            <a:endParaRPr lang="en-US" sz="11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349240" y="2194560"/>
          <a:ext cx="6263640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9"/>
          <p:cNvSpPr/>
          <p:nvPr/>
        </p:nvSpPr>
        <p:spPr>
          <a:xfrm>
            <a:off x="5349240" y="5861304"/>
            <a:ext cx="6263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block is the risk Altman alone misses - only the comprehensive score shows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risk analyst for </a:t>
            </a:r>
            <a:r>
              <a:rPr lang="en-US" sz="3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name in your book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95528" y="131673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credit reviews   .   earlier watch-list triage   .   one defensible number, on demand.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891" y="24853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96696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inputs - financials, ratings, leadership, news, hiring, sentiment - in one score.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38728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94760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8379" y="24853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58184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automated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3758184" y="3429000"/>
            <a:ext cx="221992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listed company, on demand. No manual searching for every information.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300216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56248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9867" y="24853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19672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6519672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real ratio, rating or headline.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061704" y="20574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0F1E33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317736" y="23317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1355" y="248533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1160" y="3081528"/>
            <a:ext cx="2139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real cases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9281160" y="342900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across five real collapses, in five sectors.</a:t>
            </a:r>
            <a:endParaRPr lang="en-US" sz="1250" dirty="0"/>
          </a:p>
        </p:txBody>
      </p:sp>
      <p:sp>
        <p:nvSpPr>
          <p:cNvPr id="24" name="Shape 18">
            <a:hlinkClick r:id="rId7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25" name="Text 19">
            <a:hlinkClick r:id="rId7" tooltip="Open the live Foresight AI dashboard"/>
          </p:cNvPr>
          <p:cNvSpPr/>
          <p:nvPr/>
        </p:nvSpPr>
        <p:spPr>
          <a:xfrm>
            <a:off x="777240" y="50292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tooltip="Open the live Foresight AI dashboar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dashboard: </a:t>
            </a:r>
            <a:r>
              <a:rPr lang="en-US" sz="1900" b="1" u="sng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tooltip="Open the live Foresight AI dashboar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foresightai.streamlit.app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2505104" y="6217226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&amp; notebooks:  </a:t>
            </a: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tooltip="View the code on 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github.com/hiralsarkar/ForesightAI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6903720" y="5029200"/>
            <a:ext cx="4526280" cy="914400"/>
          </a:xfrm>
          <a:prstGeom prst="roundRect">
            <a:avLst>
              <a:gd name="adj" fmla="val 9000"/>
            </a:avLst>
          </a:prstGeom>
          <a:solidFill>
            <a:srgbClr val="152740"/>
          </a:solidFill>
          <a:ln w="12700">
            <a:solidFill>
              <a:srgbClr val="1E33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178040" y="51389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READ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7178040" y="54132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8229600" y="5440680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1" name="Shape 25"/>
          <p:cNvSpPr/>
          <p:nvPr/>
        </p:nvSpPr>
        <p:spPr>
          <a:xfrm>
            <a:off x="8229600" y="5440680"/>
            <a:ext cx="1474013" cy="1463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32" name="Text 26"/>
          <p:cNvSpPr/>
          <p:nvPr/>
        </p:nvSpPr>
        <p:spPr>
          <a:xfrm>
            <a:off x="7178040" y="566928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8229600" y="5696712"/>
            <a:ext cx="2377440" cy="146304"/>
          </a:xfrm>
          <a:prstGeom prst="roundRect">
            <a:avLst>
              <a:gd name="adj" fmla="val 50000"/>
            </a:avLst>
          </a:prstGeom>
          <a:solidFill>
            <a:srgbClr val="1E3350"/>
          </a:solidFill>
          <a:ln/>
        </p:spPr>
      </p:sp>
      <p:sp>
        <p:nvSpPr>
          <p:cNvPr id="34" name="Shape 28"/>
          <p:cNvSpPr/>
          <p:nvPr/>
        </p:nvSpPr>
        <p:spPr>
          <a:xfrm>
            <a:off x="8229600" y="5696712"/>
            <a:ext cx="1188720" cy="14630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/>
        </p:spPr>
      </p:sp>
      <p:graphicFrame>
        <p:nvGraphicFramePr>
          <p:cNvPr id="35" name="Chart 0"/>
          <p:cNvGraphicFramePr/>
          <p:nvPr/>
        </p:nvGraphicFramePr>
        <p:xfrm>
          <a:off x="10561320" y="5120640"/>
          <a:ext cx="731520" cy="731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6" name="Text 29"/>
          <p:cNvSpPr/>
          <p:nvPr/>
        </p:nvSpPr>
        <p:spPr>
          <a:xfrm>
            <a:off x="10561320" y="532180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666</Words>
  <Application>Microsoft Office PowerPoint</Application>
  <PresentationFormat>Widescreen</PresentationFormat>
  <Paragraphs>72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Hiral Sarkar</cp:lastModifiedBy>
  <cp:revision>7</cp:revision>
  <dcterms:created xsi:type="dcterms:W3CDTF">2026-08-05T16:49:34Z</dcterms:created>
  <dcterms:modified xsi:type="dcterms:W3CDTF">2026-08-05T17:45:43Z</dcterms:modified>
</cp:coreProperties>
</file>