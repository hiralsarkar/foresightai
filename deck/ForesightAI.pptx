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59E0B"/>
              </a:solidFill>
              <a:ln w="9525" cap="flat">
                <a:solidFill>
                  <a:srgbClr val="0A1628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1E3350"/>
              </a:solidFill>
              <a:ln w="9525" cap="flat">
                <a:solidFill>
                  <a:srgbClr val="0A1628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</c:v>
                </c:pt>
                <c:pt idx="1">
                  <c:v>rest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58</c:v>
                </c:pt>
                <c:pt idx="1">
                  <c:v>42</c:v>
                </c:pt>
              </c:numCache>
            </c:numRef>
          </c:val>
        </c:ser>
        <c:firstSliceAng val="0"/>
        <c:holeSize val="74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Altman (financial-only)</c:v>
                </c:pt>
              </c:strCache>
            </c:strRef>
          </c:tx>
          <c:spPr>
            <a:solidFill>
              <a:srgbClr val="5B9BD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FY15</c:v>
                  </c:pt>
                  <c:pt idx="1">
                    <c:v>FY16</c:v>
                  </c:pt>
                  <c:pt idx="2">
                    <c:v>FY17</c:v>
                  </c:pt>
                  <c:pt idx="3">
                    <c:v>FY18</c:v>
                  </c:pt>
                  <c:pt idx="4">
                    <c:v>FY19</c:v>
                  </c:pt>
                  <c:pt idx="5">
                    <c:v>FY20</c:v>
                  </c:pt>
                  <c:pt idx="6">
                    <c:v>FY21</c:v>
                  </c:pt>
                  <c:pt idx="7">
                    <c:v>FY22</c:v>
                  </c:pt>
                  <c:pt idx="8">
                    <c:v>FY23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</c:v>
                </c:pt>
                <c:pt idx="1">
                  <c:v>20</c:v>
                </c:pt>
                <c:pt idx="2">
                  <c:v>21</c:v>
                </c:pt>
                <c:pt idx="3">
                  <c:v>29</c:v>
                </c:pt>
                <c:pt idx="4">
                  <c:v>34</c:v>
                </c:pt>
                <c:pt idx="5">
                  <c:v>49</c:v>
                </c:pt>
                <c:pt idx="6">
                  <c:v>63</c:v>
                </c:pt>
                <c:pt idx="7">
                  <c:v>69</c:v>
                </c:pt>
                <c:pt idx="8">
                  <c:v>85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Added risk: market signals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FY15</c:v>
                  </c:pt>
                  <c:pt idx="1">
                    <c:v>FY16</c:v>
                  </c:pt>
                  <c:pt idx="2">
                    <c:v>FY17</c:v>
                  </c:pt>
                  <c:pt idx="3">
                    <c:v>FY18</c:v>
                  </c:pt>
                  <c:pt idx="4">
                    <c:v>FY19</c:v>
                  </c:pt>
                  <c:pt idx="5">
                    <c:v>FY20</c:v>
                  </c:pt>
                  <c:pt idx="6">
                    <c:v>FY21</c:v>
                  </c:pt>
                  <c:pt idx="7">
                    <c:v>FY22</c:v>
                  </c:pt>
                  <c:pt idx="8">
                    <c:v>FY23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15</c:v>
                </c:pt>
                <c:pt idx="1">
                  <c:v>28</c:v>
                </c:pt>
                <c:pt idx="2">
                  <c:v>37</c:v>
                </c:pt>
                <c:pt idx="3">
                  <c:v>45</c:v>
                </c:pt>
                <c:pt idx="4">
                  <c:v>43</c:v>
                </c:pt>
                <c:pt idx="5">
                  <c:v>34</c:v>
                </c:pt>
                <c:pt idx="6">
                  <c:v>23</c:v>
                </c:pt>
                <c:pt idx="7">
                  <c:v>19</c:v>
                </c:pt>
                <c:pt idx="8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1E335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FFFFFF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59E0B"/>
              </a:solidFill>
              <a:ln w="9525" cap="flat">
                <a:solidFill>
                  <a:srgbClr val="0A1628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1E3350"/>
              </a:solidFill>
              <a:ln w="9525" cap="flat">
                <a:solidFill>
                  <a:srgbClr val="0A1628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</c:v>
                </c:pt>
                <c:pt idx="1">
                  <c:v>rest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58</c:v>
                </c:pt>
                <c:pt idx="1">
                  <c:v>42</c:v>
                </c:pt>
              </c:numCache>
            </c:numRef>
          </c:val>
        </c:ser>
        <c:firstSliceAng val="0"/>
        <c:holeSize val="74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foresightai.streamlit.app" TargetMode="External"/><Relationship Id="rId2" Type="http://schemas.openxmlformats.org/officeDocument/2006/relationships/chart" Target="/ppt/charts/chart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hyperlink" Target="https://foresightai.streamlit.app" TargetMode="External"/><Relationship Id="rId6" Type="http://schemas.openxmlformats.org/officeDocument/2006/relationships/hyperlink" Target="https://github.com/hiralsarkar/ForesightAI" TargetMode="External"/><Relationship Id="rId7" Type="http://schemas.openxmlformats.org/officeDocument/2006/relationships/chart" Target="/ppt/charts/chart3.xm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CORPORATE RISK ENGINE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77240" y="1417320"/>
            <a:ext cx="7680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Foresight </a:t>
            </a:r>
            <a:pPr indent="0" marL="0">
              <a:buNone/>
            </a:pPr>
            <a:r>
              <a:rPr lang="en-US" sz="6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822960" y="2788920"/>
            <a:ext cx="7223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it at any listed Indian company. Get one explainable 0-100 score</a:t>
            </a:r>
            <a:endParaRPr lang="en-US" sz="18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fuses the Altman Z-Score with the market signals others read separately:</a:t>
            </a:r>
            <a:endParaRPr lang="en-US" sz="18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ratings, leadership, news, hiring and employee sentiment.</a:t>
            </a:r>
            <a:endParaRPr lang="en-US" sz="1800" dirty="0"/>
          </a:p>
        </p:txBody>
      </p:sp>
      <p:sp>
        <p:nvSpPr>
          <p:cNvPr id="5" name="Shape 3">
            <a:hlinkClick r:id="rId1" tooltip="Open the live Foresight AI dashboard"/>
          </p:cNvPr>
          <p:cNvSpPr/>
          <p:nvPr/>
        </p:nvSpPr>
        <p:spPr>
          <a:xfrm>
            <a:off x="822960" y="3977640"/>
            <a:ext cx="4160520" cy="566928"/>
          </a:xfrm>
          <a:prstGeom prst="roundRect">
            <a:avLst>
              <a:gd name="adj" fmla="val 50000"/>
            </a:avLst>
          </a:prstGeom>
          <a:solidFill>
            <a:srgbClr val="152740"/>
          </a:solidFill>
          <a:ln w="15875">
            <a:solidFill>
              <a:srgbClr val="F59E0B"/>
            </a:solidFill>
            <a:prstDash val="solid"/>
          </a:ln>
        </p:spPr>
      </p:sp>
      <p:sp>
        <p:nvSpPr>
          <p:cNvPr id="6" name="Text 4">
            <a:hlinkClick r:id="rId1" tooltip="Open the live Foresight AI dashboard"/>
          </p:cNvPr>
          <p:cNvSpPr/>
          <p:nvPr/>
        </p:nvSpPr>
        <p:spPr>
          <a:xfrm>
            <a:off x="822960" y="3977640"/>
            <a:ext cx="4160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u="sng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live Foresight AI dashboar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 demo   </a:t>
            </a:r>
            <a:pPr algn="ctr" indent="0" marL="0">
              <a:buNone/>
            </a:pPr>
            <a:r>
              <a:rPr lang="en-US" sz="1500" b="1" u="sng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live Foresight AI dashboar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foresightai.streamlit.app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5989320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Altman Z  +  credit ratings  +  leadership  +  news   .   NSE-listed   .   validated on 5 real collapses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686800" y="1508760"/>
            <a:ext cx="3291840" cy="3291840"/>
          </a:xfrm>
          <a:prstGeom prst="ellipse">
            <a:avLst/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9006840" y="1828800"/>
          <a:ext cx="26517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7"/>
          <p:cNvSpPr/>
          <p:nvPr/>
        </p:nvSpPr>
        <p:spPr>
          <a:xfrm>
            <a:off x="9006840" y="2487168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5200" dirty="0"/>
          </a:p>
        </p:txBody>
      </p:sp>
      <p:sp>
        <p:nvSpPr>
          <p:cNvPr id="11" name="Text 8"/>
          <p:cNvSpPr/>
          <p:nvPr/>
        </p:nvSpPr>
        <p:spPr>
          <a:xfrm>
            <a:off x="9006840" y="331012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/ 100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006840" y="1810512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686800" y="48920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live, explainable, on demand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warning signs are </a:t>
            </a:r>
            <a:pPr indent="0" marL="0">
              <a:buNone/>
            </a:pPr>
            <a:r>
              <a:rPr lang="en-US" sz="3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</a:t>
            </a:r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Nobody reads them in time.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795528" y="12984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Distress builds for years in the filings and the headlines - but the read is slow, manual and scattered.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777240" y="1965960"/>
            <a:ext cx="5989320" cy="1170432"/>
          </a:xfrm>
          <a:prstGeom prst="roundRect">
            <a:avLst>
              <a:gd name="adj" fmla="val 7031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2258568"/>
            <a:ext cx="585216" cy="585216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4580" y="2399020"/>
            <a:ext cx="304312" cy="3043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30552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Backward-looking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468880"/>
            <a:ext cx="48006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statements lag reality by quarters. By the time the ratios turn, the market already knows.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77240" y="3319272"/>
            <a:ext cx="5989320" cy="1170432"/>
          </a:xfrm>
          <a:prstGeom prst="roundRect">
            <a:avLst>
              <a:gd name="adj" fmla="val 7031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24128" y="3611880"/>
            <a:ext cx="585216" cy="585216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4580" y="3752332"/>
            <a:ext cx="304312" cy="30431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483864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Manual, one by one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822192"/>
            <a:ext cx="48006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Analysts read filings company by company. Coverage is thin and the slowest names get watched last.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777240" y="4672584"/>
            <a:ext cx="5989320" cy="1170432"/>
          </a:xfrm>
          <a:prstGeom prst="roundRect">
            <a:avLst>
              <a:gd name="adj" fmla="val 7031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024128" y="4965192"/>
            <a:ext cx="585216" cy="585216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4580" y="5105644"/>
            <a:ext cx="304312" cy="30431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837176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 sit apart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175504"/>
            <a:ext cx="48006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 moves before the accounts do - but the numbers and the narrative live in different places.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7086600" y="1965960"/>
            <a:ext cx="4343400" cy="3913632"/>
          </a:xfrm>
          <a:prstGeom prst="roundRect">
            <a:avLst>
              <a:gd name="adj" fmla="val 2103"/>
            </a:avLst>
          </a:prstGeom>
          <a:solidFill>
            <a:srgbClr val="152740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7406640" y="2212848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FORESIGHT FIX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7406640" y="2542032"/>
            <a:ext cx="3703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public, in one score</a:t>
            </a:r>
            <a:endParaRPr lang="en-US" sz="1900" dirty="0"/>
          </a:p>
        </p:txBody>
      </p:sp>
      <p:sp>
        <p:nvSpPr>
          <p:cNvPr id="22" name="Text 17"/>
          <p:cNvSpPr/>
          <p:nvPr/>
        </p:nvSpPr>
        <p:spPr>
          <a:xfrm>
            <a:off x="7360920" y="3035808"/>
            <a:ext cx="1280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400" dirty="0"/>
          </a:p>
        </p:txBody>
      </p:sp>
      <p:sp>
        <p:nvSpPr>
          <p:cNvPr id="23" name="Text 18"/>
          <p:cNvSpPr/>
          <p:nvPr/>
        </p:nvSpPr>
        <p:spPr>
          <a:xfrm>
            <a:off x="8641080" y="320040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</a:t>
            </a:r>
            <a:pPr indent="0" marL="0">
              <a:lnSpc>
                <a:spcPct val="102000"/>
              </a:lnSpc>
              <a:buNone/>
            </a:pPr>
            <a:endParaRPr lang="en-US" sz="2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fused into one</a:t>
            </a:r>
            <a:endParaRPr lang="en-US" sz="2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0-100 read</a:t>
            </a:r>
            <a:endParaRPr lang="en-US" sz="2000" dirty="0"/>
          </a:p>
        </p:txBody>
      </p:sp>
      <p:sp>
        <p:nvSpPr>
          <p:cNvPr id="24" name="Text 19"/>
          <p:cNvSpPr/>
          <p:nvPr/>
        </p:nvSpPr>
        <p:spPr>
          <a:xfrm>
            <a:off x="7406640" y="4526280"/>
            <a:ext cx="3703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  .  credit ratings  .  leadership  .  news  .  hiring  .  employee sentiment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7406640" y="5440680"/>
            <a:ext cx="3703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together and explained - not scattered across ten browser tabs.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live pipeline, </a:t>
            </a:r>
            <a:pPr indent="0" marL="0">
              <a:buNone/>
            </a:pPr>
            <a:r>
              <a:rPr lang="en-US" sz="3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explainable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795528" y="1225296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hard-coded. Pick a name and every step runs on the spot.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594360" y="1965960"/>
            <a:ext cx="2331720" cy="2331720"/>
          </a:xfrm>
          <a:prstGeom prst="roundRect">
            <a:avLst>
              <a:gd name="adj" fmla="val 3529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6172" y="2258568"/>
            <a:ext cx="768096" cy="768096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0515" y="2442911"/>
            <a:ext cx="399410" cy="39941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58952" y="2112264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31520" y="317296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company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795528" y="3557016"/>
            <a:ext cx="1929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NSE-listed name, chosen on demand.</a:t>
            </a:r>
            <a:endParaRPr lang="en-US" sz="12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096" y="2930652"/>
            <a:ext cx="402336" cy="40233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584448" y="1965960"/>
            <a:ext cx="2331720" cy="2331720"/>
          </a:xfrm>
          <a:prstGeom prst="roundRect">
            <a:avLst>
              <a:gd name="adj" fmla="val 3529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366260" y="2258568"/>
            <a:ext cx="768096" cy="768096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0603" y="2442911"/>
            <a:ext cx="399410" cy="39941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749040" y="2112264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3721608" y="317296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live</a:t>
            </a:r>
            <a:endParaRPr lang="en-US" sz="1650" dirty="0"/>
          </a:p>
        </p:txBody>
      </p:sp>
      <p:sp>
        <p:nvSpPr>
          <p:cNvPr id="16" name="Text 11"/>
          <p:cNvSpPr/>
          <p:nvPr/>
        </p:nvSpPr>
        <p:spPr>
          <a:xfrm>
            <a:off x="3785616" y="3557016"/>
            <a:ext cx="1929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 from Screener + latest news from Google News.</a:t>
            </a:r>
            <a:endParaRPr lang="en-US" sz="12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4184" y="2930652"/>
            <a:ext cx="402336" cy="402336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574536" y="1965960"/>
            <a:ext cx="2331720" cy="2331720"/>
          </a:xfrm>
          <a:prstGeom prst="roundRect">
            <a:avLst>
              <a:gd name="adj" fmla="val 3529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7356348" y="2258568"/>
            <a:ext cx="768096" cy="768096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0691" y="2442911"/>
            <a:ext cx="399410" cy="39941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739128" y="2112264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6711696" y="317296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the signals</a:t>
            </a:r>
            <a:endParaRPr lang="en-US" sz="1650" dirty="0"/>
          </a:p>
        </p:txBody>
      </p:sp>
      <p:sp>
        <p:nvSpPr>
          <p:cNvPr id="23" name="Text 16"/>
          <p:cNvSpPr/>
          <p:nvPr/>
        </p:nvSpPr>
        <p:spPr>
          <a:xfrm>
            <a:off x="6775704" y="3557016"/>
            <a:ext cx="1929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Altman Z financials + a five-signal market pulse.</a:t>
            </a:r>
            <a:endParaRPr lang="en-US" sz="120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34272" y="2930652"/>
            <a:ext cx="402336" cy="402336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9564624" y="1965960"/>
            <a:ext cx="2331720" cy="2331720"/>
          </a:xfrm>
          <a:prstGeom prst="roundRect">
            <a:avLst>
              <a:gd name="adj" fmla="val 3529"/>
            </a:avLst>
          </a:prstGeom>
          <a:solidFill>
            <a:srgbClr val="152740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Shape 18"/>
          <p:cNvSpPr/>
          <p:nvPr/>
        </p:nvSpPr>
        <p:spPr>
          <a:xfrm>
            <a:off x="10346436" y="2258568"/>
            <a:ext cx="768096" cy="768096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30779" y="2442911"/>
            <a:ext cx="399410" cy="399410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9729216" y="2112264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29" name="Text 20"/>
          <p:cNvSpPr/>
          <p:nvPr/>
        </p:nvSpPr>
        <p:spPr>
          <a:xfrm>
            <a:off x="9701784" y="317296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 + explain</a:t>
            </a:r>
            <a:endParaRPr lang="en-US" sz="1650" dirty="0"/>
          </a:p>
        </p:txBody>
      </p:sp>
      <p:sp>
        <p:nvSpPr>
          <p:cNvPr id="30" name="Text 21"/>
          <p:cNvSpPr/>
          <p:nvPr/>
        </p:nvSpPr>
        <p:spPr>
          <a:xfrm>
            <a:off x="9765792" y="3557016"/>
            <a:ext cx="1929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0-100 risk read, every point traced to a real ratio, rating or headline.</a:t>
            </a:r>
            <a:endParaRPr lang="en-US" sz="1200" dirty="0"/>
          </a:p>
        </p:txBody>
      </p:sp>
      <p:sp>
        <p:nvSpPr>
          <p:cNvPr id="31" name="Shape 22"/>
          <p:cNvSpPr/>
          <p:nvPr/>
        </p:nvSpPr>
        <p:spPr>
          <a:xfrm>
            <a:off x="594360" y="4709160"/>
            <a:ext cx="11002975" cy="1417320"/>
          </a:xfrm>
          <a:prstGeom prst="roundRect">
            <a:avLst>
              <a:gd name="adj" fmla="val 5806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32" name="Text 23"/>
          <p:cNvSpPr/>
          <p:nvPr/>
        </p:nvSpPr>
        <p:spPr>
          <a:xfrm>
            <a:off x="868680" y="49103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THE SCORE</a:t>
            </a:r>
            <a:endParaRPr lang="en-US" sz="1100" dirty="0"/>
          </a:p>
        </p:txBody>
      </p:sp>
      <p:sp>
        <p:nvSpPr>
          <p:cNvPr id="33" name="Shape 24"/>
          <p:cNvSpPr/>
          <p:nvPr/>
        </p:nvSpPr>
        <p:spPr>
          <a:xfrm>
            <a:off x="868680" y="5276088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354" y="5407762"/>
            <a:ext cx="285293" cy="285293"/>
          </a:xfrm>
          <a:prstGeom prst="rect">
            <a:avLst/>
          </a:prstGeom>
        </p:spPr>
      </p:pic>
      <p:sp>
        <p:nvSpPr>
          <p:cNvPr id="35" name="Text 25"/>
          <p:cNvSpPr/>
          <p:nvPr/>
        </p:nvSpPr>
        <p:spPr>
          <a:xfrm>
            <a:off x="1554480" y="5257800"/>
            <a:ext cx="45720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leg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Original 1968 Altman Z - working capital, retained earnings, EBIT, market equity, sales. A trusted distress formula, computed live and decomposed term by term.</a:t>
            </a:r>
            <a:endParaRPr lang="en-US" sz="1450" dirty="0"/>
          </a:p>
        </p:txBody>
      </p:sp>
      <p:sp>
        <p:nvSpPr>
          <p:cNvPr id="36" name="Shape 26"/>
          <p:cNvSpPr/>
          <p:nvPr/>
        </p:nvSpPr>
        <p:spPr>
          <a:xfrm>
            <a:off x="6446520" y="5166360"/>
            <a:ext cx="914" cy="685800"/>
          </a:xfrm>
          <a:prstGeom prst="line">
            <a:avLst/>
          </a:prstGeom>
          <a:noFill/>
          <a:ln w="12700">
            <a:solidFill>
              <a:srgbClr val="1E3350"/>
            </a:solidFill>
            <a:prstDash val="solid"/>
          </a:ln>
        </p:spPr>
      </p:sp>
      <p:sp>
        <p:nvSpPr>
          <p:cNvPr id="37" name="Shape 27"/>
          <p:cNvSpPr/>
          <p:nvPr/>
        </p:nvSpPr>
        <p:spPr>
          <a:xfrm>
            <a:off x="6720840" y="5276088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2514" y="5407762"/>
            <a:ext cx="285293" cy="285293"/>
          </a:xfrm>
          <a:prstGeom prst="rect">
            <a:avLst/>
          </a:prstGeom>
        </p:spPr>
      </p:pic>
      <p:sp>
        <p:nvSpPr>
          <p:cNvPr id="39" name="Text 28"/>
          <p:cNvSpPr/>
          <p:nvPr/>
        </p:nvSpPr>
        <p:spPr>
          <a:xfrm>
            <a:off x="7406640" y="5239512"/>
            <a:ext cx="41605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leg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Five signals that move before the accounts do: credit rating (0.30), leadership changes (0.25), news sentiment (0.25), hiring (0.10), employee confidence (0.10). A rating cut to 'D' or an auditor exit floors the score - facts, not moods.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</a:t>
            </a:r>
            <a:pPr indent="0" marL="0">
              <a:buNone/>
            </a:pPr>
            <a:r>
              <a:rPr lang="en-US" sz="3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comprehensive</a:t>
            </a:r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score, on real history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795528" y="1225296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Altman reads the annual filings. ForesightAI reads the same financials plus the credit ratings, leadership, news and the market.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777240" y="1874520"/>
            <a:ext cx="4023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inputs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95528" y="2578608"/>
            <a:ext cx="3977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financials, credit ratings, leadership, news, hiring and employee sentiment - fused into one 0-100 score.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95528" y="3401568"/>
            <a:ext cx="39776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Altman is the financial leg. ForesightAI adds the market signals, so the score reflects the full public picture - and moves the day any of them do.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77240" y="4553712"/>
            <a:ext cx="3977640" cy="1554480"/>
          </a:xfrm>
          <a:prstGeom prst="roundRect">
            <a:avLst>
              <a:gd name="adj" fmla="val 5294"/>
            </a:avLst>
          </a:prstGeom>
          <a:solidFill>
            <a:srgbClr val="152740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7552" y="4663440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CASES, FIVE SECTORS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87552" y="4919472"/>
            <a:ext cx="3566160" cy="11338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Unitech </a:t>
            </a:r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(real estate), </a:t>
            </a:r>
            <a:pPr indent="0" marL="0">
              <a:lnSpc>
                <a:spcPct val="103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Retail </a:t>
            </a:r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(retail), </a:t>
            </a:r>
            <a:pPr indent="0" marL="0">
              <a:lnSpc>
                <a:spcPct val="103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Communications </a:t>
            </a:r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(telecom), </a:t>
            </a:r>
            <a:pPr indent="0" marL="0">
              <a:lnSpc>
                <a:spcPct val="103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Jaiprakash Associates </a:t>
            </a:r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(infrastructure), </a:t>
            </a:r>
            <a:pPr indent="0" marL="0">
              <a:lnSpc>
                <a:spcPct val="103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Suzlon </a:t>
            </a:r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(renewables - a recovery). Real financials, real events.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349240" y="1755648"/>
            <a:ext cx="6263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- Unitech (real estate): Altman read Safe for years</a:t>
            </a:r>
            <a:endParaRPr lang="en-US" sz="11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5349240" y="2194560"/>
          <a:ext cx="626364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Text 9"/>
          <p:cNvSpPr/>
          <p:nvPr/>
        </p:nvSpPr>
        <p:spPr>
          <a:xfrm>
            <a:off x="5349240" y="5861304"/>
            <a:ext cx="6263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amber block is the risk Altman alone misses - only the comprehensive score shows it.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numbers </a:t>
            </a:r>
            <a:pPr indent="0" marL="0">
              <a:buNone/>
            </a:pPr>
            <a:r>
              <a:rPr lang="en-US" sz="3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actually say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795528" y="1225296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findings, each reproducible from the notebooks - a measurement, not a story.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777240" y="1874520"/>
            <a:ext cx="5349240" cy="1874520"/>
          </a:xfrm>
          <a:prstGeom prst="roundRect">
            <a:avLst>
              <a:gd name="adj" fmla="val 4390"/>
            </a:avLst>
          </a:prstGeom>
          <a:solidFill>
            <a:srgbClr val="152740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3272" y="2130552"/>
            <a:ext cx="566928" cy="566928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9335" y="2266615"/>
            <a:ext cx="294803" cy="29480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37360" y="2039112"/>
            <a:ext cx="4206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9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1051560" y="2697480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caught at zero false alarms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051560" y="2971800"/>
            <a:ext cx="4800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12 healthy blue-chips and 9 firms that failed, a threshold that flags NO healthy name still catches 8 of the 9 failures. Median distress probability 0.83 vs 0.13 (leave-one-out ROC-AUC 0.97).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812280" y="1874520"/>
            <a:ext cx="5349240" cy="1874520"/>
          </a:xfrm>
          <a:prstGeom prst="roundRect">
            <a:avLst>
              <a:gd name="adj" fmla="val 4390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068312" y="2130552"/>
            <a:ext cx="566928" cy="566928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4375" y="2266615"/>
            <a:ext cx="294803" cy="29480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772400" y="2039112"/>
            <a:ext cx="4206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months</a:t>
            </a:r>
            <a:endParaRPr lang="en-US" sz="3000" dirty="0"/>
          </a:p>
        </p:txBody>
      </p:sp>
      <p:sp>
        <p:nvSpPr>
          <p:cNvPr id="14" name="Text 10"/>
          <p:cNvSpPr/>
          <p:nvPr/>
        </p:nvSpPr>
        <p:spPr>
          <a:xfrm>
            <a:off x="7086600" y="2697480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early warning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7086600" y="2971800"/>
            <a:ext cx="4800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comprehensive score crosses into high risk a median 27 months before insolvency - 6 months earlier than Altman. Unitech: 26 months, where Altman never warned in time.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777240" y="3959352"/>
            <a:ext cx="5349240" cy="1874520"/>
          </a:xfrm>
          <a:prstGeom prst="roundRect">
            <a:avLst>
              <a:gd name="adj" fmla="val 4390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1033272" y="4215384"/>
            <a:ext cx="566928" cy="566928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9335" y="4351447"/>
            <a:ext cx="294803" cy="294803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737360" y="4123944"/>
            <a:ext cx="4206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76 -&gt; 78</a:t>
            </a:r>
            <a:endParaRPr lang="en-US" sz="3000" dirty="0"/>
          </a:p>
        </p:txBody>
      </p:sp>
      <p:sp>
        <p:nvSpPr>
          <p:cNvPr id="20" name="Text 15"/>
          <p:cNvSpPr/>
          <p:nvPr/>
        </p:nvSpPr>
        <p:spPr>
          <a:xfrm>
            <a:off x="1051560" y="4782312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hard-event floor binds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1051560" y="5056632"/>
            <a:ext cx="4800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SpiceJet's verified auditor exit floors the signal pulse - a fact that softer, tone-based signals cannot average away. It stays inert on the healthy names.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812280" y="3959352"/>
            <a:ext cx="5349240" cy="1874520"/>
          </a:xfrm>
          <a:prstGeom prst="roundRect">
            <a:avLst>
              <a:gd name="adj" fmla="val 4390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7068312" y="4215384"/>
            <a:ext cx="566928" cy="566928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4375" y="4351447"/>
            <a:ext cx="294803" cy="294803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772400" y="4123944"/>
            <a:ext cx="4206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50/50 = 60/40 = 70/30</a:t>
            </a:r>
            <a:endParaRPr lang="en-US" sz="1900" dirty="0"/>
          </a:p>
        </p:txBody>
      </p:sp>
      <p:sp>
        <p:nvSpPr>
          <p:cNvPr id="26" name="Text 20"/>
          <p:cNvSpPr/>
          <p:nvPr/>
        </p:nvSpPr>
        <p:spPr>
          <a:xfrm>
            <a:off x="7086600" y="4782312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 to its weights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7086600" y="5056632"/>
            <a:ext cx="4800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worst-to-best risk ranking of the six tracked names is identical across all three blends - the signals drive the read, not the exact weighting.</a:t>
            </a:r>
            <a:endParaRPr lang="en-US" sz="1150" dirty="0"/>
          </a:p>
        </p:txBody>
      </p:sp>
      <p:sp>
        <p:nvSpPr>
          <p:cNvPr id="28" name="Text 22"/>
          <p:cNvSpPr/>
          <p:nvPr/>
        </p:nvSpPr>
        <p:spPr>
          <a:xfrm>
            <a:off x="795528" y="6080760"/>
            <a:ext cx="10607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Reproducible: 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notebooks/04_findings.ipynb  -  runs on the base requirements, no heavy ML deps.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0698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risk analyst for </a:t>
            </a:r>
            <a:pPr indent="0" marL="0">
              <a:buNone/>
            </a:pPr>
            <a:r>
              <a:rPr lang="en-US" sz="3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name in your book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795528" y="1316736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credit reviews   .   earlier watch-list triage   .   one defensible number, on demand.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777240" y="2057400"/>
            <a:ext cx="2542032" cy="2331720"/>
          </a:xfrm>
          <a:prstGeom prst="roundRect">
            <a:avLst>
              <a:gd name="adj" fmla="val 3529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3272" y="233172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6891" y="24853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96696" y="3081528"/>
            <a:ext cx="21396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Comprehensive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996696" y="3429000"/>
            <a:ext cx="213969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inputs - financials, ratings, leadership, news, hiring, sentiment - in one score.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3538728" y="2057400"/>
            <a:ext cx="2542032" cy="2331720"/>
          </a:xfrm>
          <a:prstGeom prst="roundRect">
            <a:avLst>
              <a:gd name="adj" fmla="val 3529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794760" y="233172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8379" y="248533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758184" y="3081528"/>
            <a:ext cx="21396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&amp; automated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3758184" y="3429000"/>
            <a:ext cx="213969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listed company, on demand. No manual pull, no waiting on filings.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300216" y="2057400"/>
            <a:ext cx="2542032" cy="2331720"/>
          </a:xfrm>
          <a:prstGeom prst="roundRect">
            <a:avLst>
              <a:gd name="adj" fmla="val 3529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556248" y="233172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9867" y="248533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519672" y="3081528"/>
            <a:ext cx="21396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6519672" y="3429000"/>
            <a:ext cx="213969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point traces to a real ratio, rating or headline.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9061704" y="2057400"/>
            <a:ext cx="2542032" cy="2331720"/>
          </a:xfrm>
          <a:prstGeom prst="roundRect">
            <a:avLst>
              <a:gd name="adj" fmla="val 3529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317736" y="233172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1355" y="2485339"/>
            <a:ext cx="332842" cy="33284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281160" y="3081528"/>
            <a:ext cx="21396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on real cases</a:t>
            </a:r>
            <a:endParaRPr lang="en-US" sz="1550" dirty="0"/>
          </a:p>
        </p:txBody>
      </p:sp>
      <p:sp>
        <p:nvSpPr>
          <p:cNvPr id="23" name="Text 17"/>
          <p:cNvSpPr/>
          <p:nvPr/>
        </p:nvSpPr>
        <p:spPr>
          <a:xfrm>
            <a:off x="9281160" y="3429000"/>
            <a:ext cx="213969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Replayed across five real collapses, in five sectors.</a:t>
            </a:r>
            <a:endParaRPr lang="en-US" sz="1250" dirty="0"/>
          </a:p>
        </p:txBody>
      </p:sp>
      <p:sp>
        <p:nvSpPr>
          <p:cNvPr id="24" name="Shape 18">
            <a:hlinkClick r:id="rId5" tooltip="Open the live Foresight AI dashboard"/>
          </p:cNvPr>
          <p:cNvSpPr/>
          <p:nvPr/>
        </p:nvSpPr>
        <p:spPr>
          <a:xfrm>
            <a:off x="777240" y="5029200"/>
            <a:ext cx="5669280" cy="9144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25" name="Text 19">
            <a:hlinkClick r:id="rId5" tooltip="Open the live Foresight AI dashboard"/>
          </p:cNvPr>
          <p:cNvSpPr/>
          <p:nvPr/>
        </p:nvSpPr>
        <p:spPr>
          <a:xfrm>
            <a:off x="777240" y="5029200"/>
            <a:ext cx="5669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u="sng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Open the live Foresight AI dashboar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the live dashboard   </a:t>
            </a:r>
            <a:pPr algn="ctr" indent="0" marL="0">
              <a:buNone/>
            </a:pPr>
            <a:r>
              <a:rPr lang="en-US" sz="1900" b="1" u="sng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Open the live Foresight AI dashboar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foresightai.streamlit.app</a:t>
            </a:r>
            <a:endParaRPr lang="en-US" sz="1700" dirty="0"/>
          </a:p>
        </p:txBody>
      </p:sp>
      <p:sp>
        <p:nvSpPr>
          <p:cNvPr id="26" name="Text 20"/>
          <p:cNvSpPr/>
          <p:nvPr/>
        </p:nvSpPr>
        <p:spPr>
          <a:xfrm>
            <a:off x="822960" y="605332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&amp; notebooks:  </a:t>
            </a:r>
            <a:pPr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View the code on GitHub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github.com/hiralsarkar/ForesightAI</a:t>
            </a:r>
            <a:endParaRPr lang="en-US" sz="1300" dirty="0"/>
          </a:p>
        </p:txBody>
      </p:sp>
      <p:sp>
        <p:nvSpPr>
          <p:cNvPr id="27" name="Shape 21"/>
          <p:cNvSpPr/>
          <p:nvPr/>
        </p:nvSpPr>
        <p:spPr>
          <a:xfrm>
            <a:off x="6903720" y="5029200"/>
            <a:ext cx="4526280" cy="914400"/>
          </a:xfrm>
          <a:prstGeom prst="roundRect">
            <a:avLst>
              <a:gd name="adj" fmla="val 9000"/>
            </a:avLst>
          </a:prstGeom>
          <a:solidFill>
            <a:srgbClr val="152740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7178040" y="513892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READ</a:t>
            </a:r>
            <a:endParaRPr lang="en-US" sz="1050" dirty="0"/>
          </a:p>
        </p:txBody>
      </p:sp>
      <p:sp>
        <p:nvSpPr>
          <p:cNvPr id="29" name="Text 23"/>
          <p:cNvSpPr/>
          <p:nvPr/>
        </p:nvSpPr>
        <p:spPr>
          <a:xfrm>
            <a:off x="7178040" y="5413248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</a:t>
            </a:r>
            <a:endParaRPr lang="en-US" sz="1050" dirty="0"/>
          </a:p>
        </p:txBody>
      </p:sp>
      <p:sp>
        <p:nvSpPr>
          <p:cNvPr id="30" name="Shape 24"/>
          <p:cNvSpPr/>
          <p:nvPr/>
        </p:nvSpPr>
        <p:spPr>
          <a:xfrm>
            <a:off x="8229600" y="5440680"/>
            <a:ext cx="2377440" cy="146304"/>
          </a:xfrm>
          <a:prstGeom prst="roundRect">
            <a:avLst>
              <a:gd name="adj" fmla="val 50000"/>
            </a:avLst>
          </a:prstGeom>
          <a:solidFill>
            <a:srgbClr val="1E3350"/>
          </a:solidFill>
          <a:ln/>
        </p:spPr>
      </p:sp>
      <p:sp>
        <p:nvSpPr>
          <p:cNvPr id="31" name="Shape 25"/>
          <p:cNvSpPr/>
          <p:nvPr/>
        </p:nvSpPr>
        <p:spPr>
          <a:xfrm>
            <a:off x="8229600" y="5440680"/>
            <a:ext cx="1474013" cy="14630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32" name="Text 26"/>
          <p:cNvSpPr/>
          <p:nvPr/>
        </p:nvSpPr>
        <p:spPr>
          <a:xfrm>
            <a:off x="7178040" y="5669280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</a:t>
            </a:r>
            <a:endParaRPr lang="en-US" sz="1050" dirty="0"/>
          </a:p>
        </p:txBody>
      </p:sp>
      <p:sp>
        <p:nvSpPr>
          <p:cNvPr id="33" name="Shape 27"/>
          <p:cNvSpPr/>
          <p:nvPr/>
        </p:nvSpPr>
        <p:spPr>
          <a:xfrm>
            <a:off x="8229600" y="5696712"/>
            <a:ext cx="2377440" cy="146304"/>
          </a:xfrm>
          <a:prstGeom prst="roundRect">
            <a:avLst>
              <a:gd name="adj" fmla="val 50000"/>
            </a:avLst>
          </a:prstGeom>
          <a:solidFill>
            <a:srgbClr val="1E3350"/>
          </a:solidFill>
          <a:ln/>
        </p:spPr>
      </p:sp>
      <p:sp>
        <p:nvSpPr>
          <p:cNvPr id="34" name="Shape 28"/>
          <p:cNvSpPr/>
          <p:nvPr/>
        </p:nvSpPr>
        <p:spPr>
          <a:xfrm>
            <a:off x="8229600" y="5696712"/>
            <a:ext cx="1188720" cy="146304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/>
        </p:spPr>
      </p:sp>
      <p:graphicFrame>
        <p:nvGraphicFramePr>
          <p:cNvPr id="35" name="Chart 0" descr=""/>
          <p:cNvGraphicFramePr/>
          <p:nvPr/>
        </p:nvGraphicFramePr>
        <p:xfrm>
          <a:off x="10561320" y="5120640"/>
          <a:ext cx="731520" cy="731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36" name="Text 29"/>
          <p:cNvSpPr/>
          <p:nvPr/>
        </p:nvSpPr>
        <p:spPr>
          <a:xfrm>
            <a:off x="10561320" y="5321808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2026-08-10T14:50:36Z</dcterms:created>
  <dcterms:modified xsi:type="dcterms:W3CDTF">2026-08-10T14:50:36Z</dcterms:modified>
</cp:coreProperties>
</file>